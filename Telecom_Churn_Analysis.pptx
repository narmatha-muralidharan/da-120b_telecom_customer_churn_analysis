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17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E9F3F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6035040"/>
            <a:ext cx="1645920" cy="1645920"/>
          </a:xfrm>
          <a:prstGeom prst="ellipse">
            <a:avLst/>
          </a:prstGeom>
          <a:solidFill>
            <a:srgbClr val="E7EAF1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188720"/>
            <a:ext cx="2377440" cy="2377440"/>
          </a:xfrm>
          <a:prstGeom prst="ellipse">
            <a:avLst/>
          </a:prstGeom>
          <a:solidFill>
            <a:srgbClr val="E7EA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attrition using statistical analysis and machine learning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Narmatha Muralidharan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83722937
GitHub: github.com/Narmatha-Muralidharan/DA-120B_Telecom_Customer_Churn_Analysis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23">
            <a:extLst>
              <a:ext uri="{FF2B5EF4-FFF2-40B4-BE49-F238E27FC236}">
                <a16:creationId xmlns:a16="http://schemas.microsoft.com/office/drawing/2014/main" id="{E1B273BE-A622-3A92-29FF-0B73F62D7037}"/>
              </a:ext>
            </a:extLst>
          </p:cNvPr>
          <p:cNvSpPr/>
          <p:nvPr/>
        </p:nvSpPr>
        <p:spPr>
          <a:xfrm>
            <a:off x="6858000" y="384721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A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CEA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54480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significant revenue due to customer churn (~26.5% churn rate).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5–7x more than retaining an existing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E9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021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31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drivers of customer churn.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predictive machine learning models.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business recommendations.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1145"/>
            <a:ext cx="53309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144025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IBM Telco Customer Churn (Kaggle)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01225"/>
            <a:ext cx="1594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076713"/>
            <a:ext cx="1594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77784" y="2601225"/>
            <a:ext cx="1594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177784" y="3076713"/>
            <a:ext cx="1594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771888" y="2601225"/>
            <a:ext cx="1594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Yes/No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771888" y="3076713"/>
            <a:ext cx="1594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515625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835665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835665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835665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04088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6492240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8463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 in 4 customers have left the service — a significant churn rate requiring immediate attention and intervention.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76472" cy="2286000"/>
          </a:xfrm>
          <a:prstGeom prst="roundRect">
            <a:avLst>
              <a:gd name="adj" fmla="val 3600"/>
            </a:avLst>
          </a:prstGeom>
          <a:solidFill>
            <a:srgbClr val="EAF7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83880" y="16916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1671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5,174 customers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3931920"/>
            <a:ext cx="3776472" cy="2286000"/>
          </a:xfrm>
          <a:prstGeom prst="roundRect">
            <a:avLst>
              <a:gd name="adj" fmla="val 3600"/>
            </a:avLst>
          </a:prstGeom>
          <a:solidFill>
            <a:srgbClr val="FCEA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83880" y="425196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47274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— 1,869 customers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&amp; Payment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120640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7160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7" name="Image 1" descr="/home/claude/work/asset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54480"/>
            <a:ext cx="5120640" cy="2523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9F3F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54406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8521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(highest)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20184" y="54406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2.8%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20184" y="58521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contract churn (lowest)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217408" y="54406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217408" y="58521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churn (highest)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&amp; Monthly Charges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120640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7160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7" name="Image 1" descr="/home/claude/work/asset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54480"/>
            <a:ext cx="5120640" cy="21579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30352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E7EAF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—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Churned: 18.0 mo   vs   Retained: 37.6 mo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72200" y="530352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E7EAF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652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Charges —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Churned: $74.44   vs   Retained: $61.27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Correlation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8542" y="1060704"/>
            <a:ext cx="9760018" cy="3800923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23" y="1225296"/>
            <a:ext cx="9059454" cy="34943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74771" y="4972845"/>
            <a:ext cx="7337657" cy="1478438"/>
          </a:xfrm>
          <a:prstGeom prst="roundRect">
            <a:avLst>
              <a:gd name="adj" fmla="val 4186"/>
            </a:avLst>
          </a:prstGeom>
          <a:solidFill>
            <a:srgbClr val="E9F3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3002282" y="5081173"/>
            <a:ext cx="3265218" cy="341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41.6%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3002282" y="5556661"/>
            <a:ext cx="3265218" cy="31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without tech support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56962" y="5081173"/>
            <a:ext cx="3265218" cy="341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F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56962" y="5556661"/>
            <a:ext cx="3265218" cy="31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 tech support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02282" y="6087013"/>
            <a:ext cx="6482418" cy="4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correlations with churn: Contract (−0.397), Tenure (−0.352), Online Security (−0.289)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Hypothesis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vs. Contract Type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860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Churn is independent of contract type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718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= 1184.60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0.000001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88536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445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11496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11496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2860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Charges are equal for both groups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9718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16.54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0.000001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28432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4464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4464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51392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vs. Internet Service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22860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Churn is independent of internet type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29718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= 732.31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0.000001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7EA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tests statistically significant (p &lt; 0.05).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monthly charges, and internet service all significantly impact customer churn decisions.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6035040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9834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models were trained and evaluated on accuracy, precision, recall, F1-score, and AUC-ROC.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69480" y="1371600"/>
            <a:ext cx="4370832" cy="2331720"/>
          </a:xfrm>
          <a:prstGeom prst="roundRect">
            <a:avLst>
              <a:gd name="adj" fmla="val 3529"/>
            </a:avLst>
          </a:prstGeom>
          <a:solidFill>
            <a:srgbClr val="E9F3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43800" y="15087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7556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177272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80.06%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177272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64.67%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177272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54.81%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177272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59.33%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77272" y="3346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69480" y="3886200"/>
            <a:ext cx="43708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543800" y="40233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177272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79.35%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543800" y="4937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177272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78.50%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177272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78.07%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— Confusion Matrix &amp; ROC Curve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4572000" cy="3593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7160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7" name="Image 1" descr="/home/claude/work/assets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00200"/>
            <a:ext cx="4663440" cy="3712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669280"/>
            <a:ext cx="5486400" cy="621792"/>
          </a:xfrm>
          <a:prstGeom prst="roundRect">
            <a:avLst>
              <a:gd name="adj" fmla="val 13235"/>
            </a:avLst>
          </a:prstGeom>
          <a:solidFill>
            <a:srgbClr val="E9F3F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5742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89% of retained customers and 55% of churned customers.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5669280"/>
            <a:ext cx="5486400" cy="621792"/>
          </a:xfrm>
          <a:prstGeom prst="roundRect">
            <a:avLst>
              <a:gd name="adj" fmla="val 13235"/>
            </a:avLst>
          </a:prstGeom>
          <a:solidFill>
            <a:srgbClr val="E9F3F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55080" y="5742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0.84 — good discrimination ability between churners and non-churners.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Churn Drivers — Feature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5" name="Image 0" descr="/home/claude/work/assets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585216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3716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6948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34416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 </a:t>
            </a: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(0.187)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162763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spending pattern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224028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2128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 </a:t>
            </a: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(0.179)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49631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correlate with more churn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69480" y="31089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6948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308152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 </a:t>
            </a: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(0.154)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36499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are at highest risk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269480" y="3977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6948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395020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 </a:t>
            </a: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(0.080)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23367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is the danger zone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269480" y="484632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6948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81888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</a:t>
            </a:r>
            <a:r>
              <a:rPr lang="en-US" sz="1200" b="1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(0.050)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10235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is a red flag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E7EA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002536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653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overall churn rate (1,869 customers)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761488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243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(42.7%) vs. two-year churn (2.8%)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52044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832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(0–12 months) are the highest-risk group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27939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1422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tech support: 41.6% churn  |  with support: 15.2%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5038344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901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at 45.3% vs. 15.2% for credit card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330952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53619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93852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1883664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for long-term contracts to convert month-to-month subscribers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76148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706624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efforts in the first 12 months with onboarding &amp; engagement programs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58444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529584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tech support and online security as default services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40740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352544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for high-paying customers to improve perceived value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523036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175504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auto-pay enrollment to reduce electronic check usage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E9F3F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6035040"/>
            <a:ext cx="1645920" cy="1645920"/>
          </a:xfrm>
          <a:prstGeom prst="ellipse">
            <a:avLst/>
          </a:prstGeom>
          <a:solidFill>
            <a:srgbClr val="E7EAF1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188720"/>
            <a:ext cx="2377440" cy="2377440"/>
          </a:xfrm>
          <a:prstGeom prst="ellipse">
            <a:avLst/>
          </a:prstGeom>
          <a:solidFill>
            <a:srgbClr val="E7EA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Narmatha Muralidharan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83722937
GitHub: github.com/Narmatha-Muralidharan/DA-120B_Telecom_Customer_Churn_Analysis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731</Words>
  <Application>Microsoft Office PowerPoint</Application>
  <PresentationFormat>Widescreen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chandan gowda</cp:lastModifiedBy>
  <cp:revision>4</cp:revision>
  <dcterms:created xsi:type="dcterms:W3CDTF">2026-09-17T09:48:10Z</dcterms:created>
  <dcterms:modified xsi:type="dcterms:W3CDTF">2026-09-17T21:08:45Z</dcterms:modified>
</cp:coreProperties>
</file>