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64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11757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07040" y="5120640"/>
            <a:ext cx="2926080" cy="2926080"/>
          </a:xfrm>
          <a:prstGeom prst="ellipse">
            <a:avLst/>
          </a:prstGeom>
          <a:solidFill>
            <a:srgbClr val="E9F3F3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00" y="6035040"/>
            <a:ext cx="1645920" cy="1645920"/>
          </a:xfrm>
          <a:prstGeom prst="ellipse">
            <a:avLst/>
          </a:prstGeom>
          <a:solidFill>
            <a:srgbClr val="E7EAF1"/>
          </a:solidFill>
          <a:ln/>
        </p:spPr>
      </p:sp>
      <p:sp>
        <p:nvSpPr>
          <p:cNvPr id="4" name="Shape 2"/>
          <p:cNvSpPr/>
          <p:nvPr/>
        </p:nvSpPr>
        <p:spPr>
          <a:xfrm>
            <a:off x="-1097280" y="-1188720"/>
            <a:ext cx="2377440" cy="2377440"/>
          </a:xfrm>
          <a:prstGeom prst="ellipse">
            <a:avLst/>
          </a:prstGeom>
          <a:solidFill>
            <a:srgbClr val="E7EA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3317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PROJECT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517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Telecom Customer Churn Analysis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2044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0A5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customer attrition using statistical analysis and machine learning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9436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Narmatha Muralidharan</a:t>
            </a: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Student ID: 83722937
GitHub: github.com/Narmatha-Muralidharan/DA-120B_Telecom_Customer_Churn_Analysis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23">
            <a:extLst>
              <a:ext uri="{FF2B5EF4-FFF2-40B4-BE49-F238E27FC236}">
                <a16:creationId xmlns:a16="http://schemas.microsoft.com/office/drawing/2014/main" id="{E1B273BE-A622-3A92-29FF-0B73F62D7037}"/>
              </a:ext>
            </a:extLst>
          </p:cNvPr>
          <p:cNvSpPr/>
          <p:nvPr/>
        </p:nvSpPr>
        <p:spPr>
          <a:xfrm>
            <a:off x="6858000" y="384721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E7EAF1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" name="Text 0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 &amp; Dataset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486400" cy="1783080"/>
          </a:xfrm>
          <a:prstGeom prst="roundRect">
            <a:avLst>
              <a:gd name="adj" fmla="val 4615"/>
            </a:avLst>
          </a:prstGeom>
          <a:solidFill>
            <a:srgbClr val="FCEAEA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554480"/>
            <a:ext cx="384048" cy="384048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545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5361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96596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companies lose significant revenue due to customer churn (~26.5% churn rate).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Acquiring a new customer costs 5–7x more than retaining an existing one.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5486400" cy="1783080"/>
          </a:xfrm>
          <a:prstGeom prst="roundRect">
            <a:avLst>
              <a:gd name="adj" fmla="val 4615"/>
            </a:avLst>
          </a:prstGeom>
          <a:solidFill>
            <a:srgbClr val="E9F3F3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" y="3520440"/>
            <a:ext cx="384048" cy="38404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511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021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9319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key drivers of customer churn.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compare predictive machine learning models.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actionable business recommendations.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09360" y="1961145"/>
            <a:ext cx="5330952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5B1">
                <a:alpha val="25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2144025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— IBM Telco Customer Churn (Kaggle)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2601225"/>
            <a:ext cx="1594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A5C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7,043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3076713"/>
            <a:ext cx="1594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records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177784" y="2601225"/>
            <a:ext cx="1594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A5C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8177784" y="3076713"/>
            <a:ext cx="1594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columns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771888" y="2601225"/>
            <a:ext cx="1594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A5C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Yes/No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9771888" y="3076713"/>
            <a:ext cx="1594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Churn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3515625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A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categories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0" y="3835665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Demographics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3835665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738360" y="3835665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Info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54864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Customer Churn Analysis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11430000" y="654710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Churn Distribution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7040880" cy="4892040"/>
          </a:xfrm>
          <a:prstGeom prst="roundRect">
            <a:avLst>
              <a:gd name="adj" fmla="val 168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5B1">
                <a:alpha val="25000"/>
              </a:srgbClr>
            </a:outerShdw>
          </a:effectLst>
        </p:spPr>
      </p:sp>
      <p:pic>
        <p:nvPicPr>
          <p:cNvPr id="5" name="Image 0" descr="/home/claude/work/assets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37360"/>
            <a:ext cx="6492240" cy="2880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4846320"/>
            <a:ext cx="649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1 in 4 customers have left the service — a significant churn rate requiring immediate attention and intervention.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863840" y="1371600"/>
            <a:ext cx="3776472" cy="2286000"/>
          </a:xfrm>
          <a:prstGeom prst="roundRect">
            <a:avLst>
              <a:gd name="adj" fmla="val 3600"/>
            </a:avLst>
          </a:prstGeom>
          <a:solidFill>
            <a:srgbClr val="EAF7E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183880" y="1691640"/>
            <a:ext cx="3136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2FAE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73.5%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8183880" y="21671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— 5,174 customers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863840" y="3931920"/>
            <a:ext cx="3776472" cy="2286000"/>
          </a:xfrm>
          <a:prstGeom prst="roundRect">
            <a:avLst>
              <a:gd name="adj" fmla="val 3600"/>
            </a:avLst>
          </a:prstGeom>
          <a:solidFill>
            <a:srgbClr val="FCEA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183880" y="4251960"/>
            <a:ext cx="3136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26.5%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472744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Churned — 1,869 customers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Customer Churn Analysis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0" y="654710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Type &amp; Payment Method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86400" cy="374904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5B1">
                <a:alpha val="25000"/>
              </a:srgbClr>
            </a:outerShdw>
          </a:effectLst>
        </p:spPr>
      </p:sp>
      <p:pic>
        <p:nvPicPr>
          <p:cNvPr id="5" name="Image 0" descr="/home/claude/work/assets/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554480"/>
            <a:ext cx="5120640" cy="21579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172200" y="1371600"/>
            <a:ext cx="5486400" cy="374904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5B1">
                <a:alpha val="25000"/>
              </a:srgbClr>
            </a:outerShdw>
          </a:effectLst>
        </p:spPr>
      </p:sp>
      <p:pic>
        <p:nvPicPr>
          <p:cNvPr id="7" name="Image 1" descr="/home/claude/work/assets/imag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554480"/>
            <a:ext cx="5120640" cy="25237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5303520"/>
            <a:ext cx="11091672" cy="960120"/>
          </a:xfrm>
          <a:prstGeom prst="roundRect">
            <a:avLst>
              <a:gd name="adj" fmla="val 8571"/>
            </a:avLst>
          </a:prstGeom>
          <a:solidFill>
            <a:srgbClr val="E9F3F3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822960" y="5440680"/>
            <a:ext cx="333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5C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42.7%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5852160"/>
            <a:ext cx="3331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Month-to-month churn (highest)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4520184" y="5440680"/>
            <a:ext cx="333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5C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2.8%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520184" y="5852160"/>
            <a:ext cx="3331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Two-year contract churn (lowest)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8217408" y="5440680"/>
            <a:ext cx="333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5C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45.3%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8217408" y="5852160"/>
            <a:ext cx="3331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check churn (highest)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Customer Churn Analysis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11430000" y="654710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Tenure &amp; Monthly Charges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86400" cy="374904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5B1">
                <a:alpha val="25000"/>
              </a:srgbClr>
            </a:outerShdw>
          </a:effectLst>
        </p:spPr>
      </p:sp>
      <p:pic>
        <p:nvPicPr>
          <p:cNvPr id="5" name="Image 0" descr="/home/claude/work/assets/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554480"/>
            <a:ext cx="5120640" cy="21579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172200" y="1371600"/>
            <a:ext cx="5486400" cy="374904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5B1">
                <a:alpha val="25000"/>
              </a:srgbClr>
            </a:outerShdw>
          </a:effectLst>
        </p:spPr>
      </p:sp>
      <p:pic>
        <p:nvPicPr>
          <p:cNvPr id="7" name="Image 1" descr="/home/claude/work/assets/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554480"/>
            <a:ext cx="5120640" cy="215798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5303520"/>
            <a:ext cx="5486400" cy="960120"/>
          </a:xfrm>
          <a:prstGeom prst="roundRect">
            <a:avLst>
              <a:gd name="adj" fmla="val 8571"/>
            </a:avLst>
          </a:prstGeom>
          <a:solidFill>
            <a:srgbClr val="E7EAF1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822960" y="55778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Tenure — </a:t>
            </a: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Churned: 18.0 mo   vs   Retained: 37.6 mo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172200" y="5303520"/>
            <a:ext cx="5486400" cy="960120"/>
          </a:xfrm>
          <a:prstGeom prst="roundRect">
            <a:avLst>
              <a:gd name="adj" fmla="val 8571"/>
            </a:avLst>
          </a:prstGeom>
          <a:solidFill>
            <a:srgbClr val="E7EAF1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446520" y="55778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Monthly Charges — </a:t>
            </a: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Churned: $74.44   vs   Retained: $61.27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Customer Churn Analysis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430000" y="654710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34686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Services Analysis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578542" y="1060704"/>
            <a:ext cx="9760018" cy="3800923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5B1">
                <a:alpha val="25000"/>
              </a:srgbClr>
            </a:outerShdw>
          </a:effectLst>
        </p:spPr>
      </p:sp>
      <p:pic>
        <p:nvPicPr>
          <p:cNvPr id="5" name="Image 0" descr="/home/claude/work/assets/imag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1423" y="1225296"/>
            <a:ext cx="9059454" cy="349436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74771" y="4972845"/>
            <a:ext cx="7337657" cy="1478438"/>
          </a:xfrm>
          <a:prstGeom prst="roundRect">
            <a:avLst>
              <a:gd name="adj" fmla="val 4186"/>
            </a:avLst>
          </a:prstGeom>
          <a:solidFill>
            <a:srgbClr val="E9F3F3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 txBox="1"/>
          <p:nvPr/>
        </p:nvSpPr>
        <p:spPr>
          <a:xfrm>
            <a:off x="3002282" y="5312176"/>
            <a:ext cx="3265218" cy="3418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41.6%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3002282" y="5787664"/>
            <a:ext cx="3265218" cy="310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without tech support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156962" y="5312176"/>
            <a:ext cx="3265218" cy="3418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FAE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15.2%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6156962" y="5787664"/>
            <a:ext cx="3265218" cy="310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with tech support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Customer Churn Analysis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11430000" y="654710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Statistical Hypothesis Testing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611880" cy="3703320"/>
          </a:xfrm>
          <a:prstGeom prst="roundRect">
            <a:avLst>
              <a:gd name="adj" fmla="val 227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5B1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600200"/>
            <a:ext cx="384048" cy="38404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58191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Chi-Square Test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85623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5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vs. Contract Type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286000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H₀: Churn is independent of contract type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2971800"/>
            <a:ext cx="30998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Chi-Square = 1184.60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 &lt; 0.000001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288536" y="1371600"/>
            <a:ext cx="3611880" cy="3703320"/>
          </a:xfrm>
          <a:prstGeom prst="roundRect">
            <a:avLst>
              <a:gd name="adj" fmla="val 227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5B1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44568" y="1600200"/>
            <a:ext cx="384048" cy="38404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4456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111496" y="158191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T-Test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111496" y="185623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5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Charges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44568" y="2286000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H₀: Charges are equal for both groups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544568" y="2971800"/>
            <a:ext cx="30998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T-statistic = 16.54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 &lt; 0.000001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028432" y="1371600"/>
            <a:ext cx="3611880" cy="3703320"/>
          </a:xfrm>
          <a:prstGeom prst="roundRect">
            <a:avLst>
              <a:gd name="adj" fmla="val 227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5B1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284464" y="1600200"/>
            <a:ext cx="384048" cy="38404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84464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851392" y="158191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Chi-Square Test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851392" y="185623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5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vs. Internet Service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284464" y="2286000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H₀: Churn is independent of internet type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8284464" y="2971800"/>
            <a:ext cx="30998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Chi-Square = 732.31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 &lt; 0.000001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48640" y="5257800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E7EAF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68680" y="544068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tests statistically significant (p &lt; 0.05).  </a:t>
            </a: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type, monthly charges, and internet service all significantly impact customer churn decisions.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Customer Churn Analysis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430000" y="654710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Comparison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6492240" cy="4892040"/>
          </a:xfrm>
          <a:prstGeom prst="roundRect">
            <a:avLst>
              <a:gd name="adj" fmla="val 168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5B1">
                <a:alpha val="25000"/>
              </a:srgbClr>
            </a:outerShdw>
          </a:effectLst>
        </p:spPr>
      </p:sp>
      <p:pic>
        <p:nvPicPr>
          <p:cNvPr id="5" name="Image 0" descr="/home/claude/work/assets/imag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83080"/>
            <a:ext cx="6035040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498348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classification models were trained and evaluated on accuracy, precision, recall, F1-score, and AUC-ROC.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269480" y="1371600"/>
            <a:ext cx="4370832" cy="2331720"/>
          </a:xfrm>
          <a:prstGeom prst="roundRect">
            <a:avLst>
              <a:gd name="adj" fmla="val 3529"/>
            </a:avLst>
          </a:prstGeom>
          <a:solidFill>
            <a:srgbClr val="E9F3F3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543800" y="1508760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A5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543800" y="1755648"/>
            <a:ext cx="3822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 Regression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7543800" y="22128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177272" y="221284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A5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80.06%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543800" y="24963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0177272" y="249631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A5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64.67%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543800" y="277977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177272" y="277977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A5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54.81%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543800" y="30632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177272" y="3063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A5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59.33%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543800" y="33467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0177272" y="334670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A5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84.03%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269480" y="3886200"/>
            <a:ext cx="4370832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5B1">
                <a:alpha val="2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543800" y="4023360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8A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MODELS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543800" y="4434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0177272" y="44348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79.35%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543800" y="4937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0177272" y="49377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78.50%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543800" y="5440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10177272" y="544068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78.07%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Customer Churn Analysis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11430000" y="654710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Best Model — Confusion Matrix &amp; ROC Curve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5B1">
                <a:alpha val="25000"/>
              </a:srgbClr>
            </a:outerShdw>
          </a:effectLst>
        </p:spPr>
      </p:sp>
      <p:pic>
        <p:nvPicPr>
          <p:cNvPr id="5" name="Image 0" descr="/home/claude/work/assets/imag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600200"/>
            <a:ext cx="4572000" cy="3593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172200" y="1371600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5B1">
                <a:alpha val="25000"/>
              </a:srgbClr>
            </a:outerShdw>
          </a:effectLst>
        </p:spPr>
      </p:sp>
      <p:pic>
        <p:nvPicPr>
          <p:cNvPr id="7" name="Image 1" descr="/home/claude/work/assets/image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600200"/>
            <a:ext cx="4663440" cy="371246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5669280"/>
            <a:ext cx="5486400" cy="621792"/>
          </a:xfrm>
          <a:prstGeom prst="roundRect">
            <a:avLst>
              <a:gd name="adj" fmla="val 13235"/>
            </a:avLst>
          </a:prstGeom>
          <a:solidFill>
            <a:srgbClr val="E9F3F3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31520" y="574243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A5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predicted 89% of retained customers and 55% of churned customers.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172200" y="5669280"/>
            <a:ext cx="5486400" cy="621792"/>
          </a:xfrm>
          <a:prstGeom prst="roundRect">
            <a:avLst>
              <a:gd name="adj" fmla="val 13235"/>
            </a:avLst>
          </a:prstGeom>
          <a:solidFill>
            <a:srgbClr val="E9F3F3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355080" y="574243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A5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AUC-ROC: 0.84 — good discrimination ability between churners and non-churners.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Customer Churn Analysis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430000" y="654710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Churn Drivers — Feature Importance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6492240" cy="4892040"/>
          </a:xfrm>
          <a:prstGeom prst="roundRect">
            <a:avLst>
              <a:gd name="adj" fmla="val 168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5B1">
                <a:alpha val="25000"/>
              </a:srgbClr>
            </a:outerShdw>
          </a:effectLst>
        </p:spPr>
      </p:sp>
      <p:pic>
        <p:nvPicPr>
          <p:cNvPr id="5" name="Image 0" descr="/home/claude/work/assets/image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600200"/>
            <a:ext cx="5852160" cy="4663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269480" y="1371600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269480" y="13624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344168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Charges  </a:t>
            </a:r>
            <a:r>
              <a:rPr lang="en-US" sz="1200" b="1" dirty="0">
                <a:solidFill>
                  <a:srgbClr val="0A5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(0.187)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1627632"/>
            <a:ext cx="3867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spending pattern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269480" y="2240280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269480" y="2231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2212848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Charges  </a:t>
            </a:r>
            <a:r>
              <a:rPr lang="en-US" sz="1200" b="1" dirty="0">
                <a:solidFill>
                  <a:srgbClr val="0A5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(0.179)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0" y="2496312"/>
            <a:ext cx="3867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bills correlate with more churn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269480" y="3108960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269480" y="3099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3081528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  </a:t>
            </a:r>
            <a:r>
              <a:rPr lang="en-US" sz="1200" b="1" dirty="0">
                <a:solidFill>
                  <a:srgbClr val="0A5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(0.154)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3364992"/>
            <a:ext cx="3867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customers are at highest risk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269480" y="3977640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269480" y="3968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3950208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Type  </a:t>
            </a:r>
            <a:r>
              <a:rPr lang="en-US" sz="1200" b="1" dirty="0">
                <a:solidFill>
                  <a:srgbClr val="0A5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(0.080)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4233672"/>
            <a:ext cx="3867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Month-to-month is the danger zone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269480" y="4846320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269480" y="4837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818888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Method  </a:t>
            </a:r>
            <a:r>
              <a:rPr lang="en-US" sz="1200" b="1" dirty="0">
                <a:solidFill>
                  <a:srgbClr val="0A5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(0.050)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0" y="5102352"/>
            <a:ext cx="3867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check is a red flag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Customer Churn Analysis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0" y="654710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Insights &amp; Business Recommendations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86400" cy="4892040"/>
          </a:xfrm>
          <a:prstGeom prst="roundRect">
            <a:avLst>
              <a:gd name="adj" fmla="val 1682"/>
            </a:avLst>
          </a:prstGeom>
          <a:solidFill>
            <a:srgbClr val="E7EA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5361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41248" y="2002536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1865376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26.5% overall churn rate (1,869 customers)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41248" y="2761488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624328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Month-to-month churn (42.7%) vs. two-year churn (2.8%)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41248" y="3520440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51560" y="338328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customers (0–12 months) are the highest-risk group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41248" y="4279392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51560" y="4142232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tech support: 41.6% churn  |  with support: 15.2%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41248" y="5038344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51560" y="490118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check users churn at 45.3% vs. 15.2% for credit card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309360" y="1371600"/>
            <a:ext cx="5330952" cy="4892040"/>
          </a:xfrm>
          <a:prstGeom prst="roundRect">
            <a:avLst>
              <a:gd name="adj" fmla="val 1682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AA5B1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583680" y="153619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0A5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83680" y="1938528"/>
            <a:ext cx="347472" cy="3474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0" y="19293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1883664"/>
            <a:ext cx="4279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discounts for long-term contracts to convert month-to-month subscribers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83680" y="2761488"/>
            <a:ext cx="347472" cy="3474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0" y="27523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086600" y="2706624"/>
            <a:ext cx="4279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retention efforts in the first 12 months with onboarding &amp; engagement programs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583680" y="3584448"/>
            <a:ext cx="347472" cy="3474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83680" y="35753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3529584"/>
            <a:ext cx="4279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tech support and online security as default services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583680" y="4407408"/>
            <a:ext cx="347472" cy="3474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0" y="43982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086600" y="4352544"/>
            <a:ext cx="4279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pricing for high-paying customers to improve perceived value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583680" y="5230368"/>
            <a:ext cx="347472" cy="3474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83680" y="52212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086600" y="5175504"/>
            <a:ext cx="4279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 auto-pay enrollment to reduce electronic check usage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54710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Customer Churn Analysis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430000" y="654710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07040" y="5120640"/>
            <a:ext cx="2926080" cy="2926080"/>
          </a:xfrm>
          <a:prstGeom prst="ellipse">
            <a:avLst/>
          </a:prstGeom>
          <a:solidFill>
            <a:srgbClr val="E9F3F3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00" y="6035040"/>
            <a:ext cx="1645920" cy="1645920"/>
          </a:xfrm>
          <a:prstGeom prst="ellipse">
            <a:avLst/>
          </a:prstGeom>
          <a:solidFill>
            <a:srgbClr val="E7EAF1"/>
          </a:solidFill>
          <a:ln/>
        </p:spPr>
      </p:sp>
      <p:sp>
        <p:nvSpPr>
          <p:cNvPr id="4" name="Shape 2"/>
          <p:cNvSpPr/>
          <p:nvPr/>
        </p:nvSpPr>
        <p:spPr>
          <a:xfrm>
            <a:off x="-1097280" y="-1188720"/>
            <a:ext cx="2377440" cy="2377440"/>
          </a:xfrm>
          <a:prstGeom prst="ellipse">
            <a:avLst/>
          </a:prstGeom>
          <a:solidFill>
            <a:srgbClr val="E7EA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6517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You!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9436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Narmatha Muralidharan</a:t>
            </a: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Student ID: 83722937
GitHub: github.com/Narmatha-Muralidharan/DA-120B_Telecom_Customer_Churn_Analysis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708</Words>
  <Application>Microsoft Office PowerPoint</Application>
  <PresentationFormat>Widescreen</PresentationFormat>
  <Paragraphs>168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chandan gowda</cp:lastModifiedBy>
  <cp:revision>6</cp:revision>
  <dcterms:created xsi:type="dcterms:W3CDTF">2026-09-17T09:48:10Z</dcterms:created>
  <dcterms:modified xsi:type="dcterms:W3CDTF">2026-09-17T22:18:46Z</dcterms:modified>
</cp:coreProperties>
</file>